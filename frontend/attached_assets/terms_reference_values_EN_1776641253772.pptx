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3131"/>
                </a:solidFill>
              </a:rPr>
              <a:t>PART 1  –  Terms &amp; Reference Values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</a:rPr>
              <a:t>1 /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438912"/>
            <a:ext cx="8503920" cy="31089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4937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68E96"/>
                </a:solidFill>
              </a:rPr>
              <a:t>Term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01952" y="4937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68E96"/>
                </a:solidFill>
              </a:rPr>
              <a:t>Description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434840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68E96"/>
                </a:solidFill>
              </a:rPr>
              <a:t>Normal Value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36208" y="4937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68E96"/>
                </a:solidFill>
              </a:rPr>
              <a:t>Suspicious Value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804672"/>
            <a:ext cx="8503920" cy="9692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804672"/>
            <a:ext cx="45720" cy="969264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914400"/>
            <a:ext cx="1298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Listener Overlap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(Artists)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01952" y="877824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D4DA"/>
                </a:solidFill>
              </a:rPr>
              <a:t>How many listeners share the same artists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34840" y="914400"/>
            <a:ext cx="1664208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950976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B7C"/>
                </a:solidFill>
              </a:rPr>
              <a:t>2–12%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6208" y="914400"/>
            <a:ext cx="2514600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95097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787"/>
                </a:solidFill>
              </a:rPr>
              <a:t>Daily 2–5% – looks normal. Grows linearly ~0.5–1% per day. After 90 days at 100% – all 200 listeners have heard all 70 artists. Never decreases.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828800"/>
            <a:ext cx="8503920" cy="969264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1828800"/>
            <a:ext cx="45720" cy="969264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1938528"/>
            <a:ext cx="1298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Session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Overlap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01952" y="1901952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D4DA"/>
                </a:solidFill>
              </a:rPr>
              <a:t>How synchronously listeners are active at the same time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1938528"/>
            <a:ext cx="1664208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1975104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B7C"/>
                </a:solidFill>
              </a:rPr>
              <a:t>Spread across the day – peak in the evening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36208" y="1938528"/>
            <a:ext cx="2514600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97510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787"/>
                </a:solidFill>
              </a:rPr>
              <a:t>3 groups start/stop within 5–10 min. Breaks also group-synchronised. Individually looks random – but the pattern is coordinated.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852928"/>
            <a:ext cx="8503920" cy="9692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2852928"/>
            <a:ext cx="45720" cy="969264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2962656"/>
            <a:ext cx="1298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Listen Duration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Distribution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01952" y="2926080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D4DA"/>
                </a:solidFill>
              </a:rPr>
              <a:t>How long a listener plays a song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34840" y="2962656"/>
            <a:ext cx="1664208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2999232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B7C"/>
                </a:solidFill>
              </a:rPr>
              <a:t>30s to 8min – wide spread with natural outliers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2962656"/>
            <a:ext cx="2514600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99923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787"/>
                </a:solidFill>
              </a:rPr>
              <a:t>Always 40–130 seconds. Never below, never above. Average 58s. Looks random – but is a hard box with no outliers.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877056"/>
            <a:ext cx="8503920" cy="969264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3877056"/>
            <a:ext cx="45720" cy="969264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" y="3986784"/>
            <a:ext cx="1298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Adoption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Speed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01952" y="3950208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D4DA"/>
                </a:solidFill>
              </a:rPr>
              <a:t>How quickly a new artist is discovered by listeners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34840" y="3986784"/>
            <a:ext cx="1664208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9" name="Text 37"/>
          <p:cNvSpPr/>
          <p:nvPr/>
        </p:nvSpPr>
        <p:spPr>
          <a:xfrm>
            <a:off x="4498848" y="4023360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B7C"/>
                </a:solidFill>
              </a:rPr>
              <a:t>S-curve over 4–8 weeks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36208" y="3986784"/>
            <a:ext cx="2514600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02336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787"/>
                </a:solidFill>
              </a:rPr>
              <a:t>All 200 listeners adopt all 70 artists equally from day one. No S-curve – detectable after 6–8 weeks of comparison.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03131"/>
                </a:solidFill>
              </a:rPr>
              <a:t>PART 1  –  Terms &amp; Reference Values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8046720" y="109728"/>
            <a:ext cx="6400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68E96"/>
                </a:solidFill>
              </a:rPr>
              <a:t>2 / 2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438912"/>
            <a:ext cx="8503920" cy="310896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49377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68E96"/>
                </a:solidFill>
              </a:rPr>
              <a:t>Term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901952" y="493776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68E96"/>
                </a:solidFill>
              </a:rPr>
              <a:t>Description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434840" y="49377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68E96"/>
                </a:solidFill>
              </a:rPr>
              <a:t>Normal Value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6236208" y="493776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50" kern="0" dirty="0">
                <a:solidFill>
                  <a:srgbClr val="868E96"/>
                </a:solidFill>
              </a:rPr>
              <a:t>Suspicious Value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0040" y="804672"/>
            <a:ext cx="8503920" cy="9692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804672"/>
            <a:ext cx="45720" cy="969264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914400"/>
            <a:ext cx="1298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Gini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Coefficient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901952" y="877824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D4DA"/>
                </a:solidFill>
              </a:rPr>
              <a:t>Measures how unequally a listener distributes plays across songs. 0 = all equal, 1 = only one song. Real people have favourites.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434840" y="914400"/>
            <a:ext cx="1664208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5" name="Text 13"/>
          <p:cNvSpPr/>
          <p:nvPr/>
        </p:nvSpPr>
        <p:spPr>
          <a:xfrm>
            <a:off x="4498848" y="950976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B7C"/>
                </a:solidFill>
              </a:rPr>
              <a:t>0.4–0.7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36208" y="914400"/>
            <a:ext cx="2514600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950976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787"/>
                </a:solidFill>
              </a:rPr>
              <a:t>Gini ~0.1–0.2. Songs heard almost equally often. Likes fake preference – but play frequency stays evenly distributed.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1828800"/>
            <a:ext cx="8503920" cy="969264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1828800"/>
            <a:ext cx="45720" cy="969264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" y="1938528"/>
            <a:ext cx="1298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Cluster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Formation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901952" y="1901952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D4DA"/>
                </a:solidFill>
              </a:rPr>
              <a:t>Groups of listeners who listen identically or very similarly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434840" y="1938528"/>
            <a:ext cx="1664208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3" name="Text 21"/>
          <p:cNvSpPr/>
          <p:nvPr/>
        </p:nvSpPr>
        <p:spPr>
          <a:xfrm>
            <a:off x="4498848" y="1975104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B7C"/>
                </a:solidFill>
              </a:rPr>
              <a:t>None or small organic groups under 5%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236208" y="1938528"/>
            <a:ext cx="2514600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5" name="Text 23"/>
          <p:cNvSpPr/>
          <p:nvPr/>
        </p:nvSpPr>
        <p:spPr>
          <a:xfrm>
            <a:off x="6309360" y="1975104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787"/>
                </a:solidFill>
              </a:rPr>
              <a:t>200 listeners are randomly split into 3 groups of ~67 daily. Each group performs one task (Artist / Album / Playlist) and starts/stops within 5–10 min. Composition changes daily – but the synchronicity pattern stays constant. Statistically clear after 90 days.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0040" y="2852928"/>
            <a:ext cx="8503920" cy="969264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2852928"/>
            <a:ext cx="45720" cy="969264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" y="2962656"/>
            <a:ext cx="1298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Overlap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Growth Curve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901952" y="2926080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D4DA"/>
                </a:solidFill>
              </a:rPr>
              <a:t>How the overlap develops over time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34840" y="2962656"/>
            <a:ext cx="1664208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1" name="Text 29"/>
          <p:cNvSpPr/>
          <p:nvPr/>
        </p:nvSpPr>
        <p:spPr>
          <a:xfrm>
            <a:off x="4498848" y="2999232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B7C"/>
                </a:solidFill>
              </a:rPr>
              <a:t>Irregular – rises and falls with organic discoveries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2962656"/>
            <a:ext cx="2514600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2999232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787"/>
                </a:solidFill>
              </a:rPr>
              <a:t>Rises evenly ~0.5–1% per day. No decline, no fluctuation. After 90 days a perfect straight line – never observed in real data.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320040" y="3877056"/>
            <a:ext cx="8503920" cy="969264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3877056"/>
            <a:ext cx="45720" cy="969264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" y="3986784"/>
            <a:ext cx="129844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Geographic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F8F9FA"/>
                </a:solidFill>
              </a:rPr>
              <a:t>Overlap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901952" y="3950208"/>
            <a:ext cx="239572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ED4DA"/>
                </a:solidFill>
              </a:rPr>
              <a:t>Listeners from the same countries share the same artists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434840" y="3986784"/>
            <a:ext cx="1664208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9" name="Text 37"/>
          <p:cNvSpPr/>
          <p:nvPr/>
        </p:nvSpPr>
        <p:spPr>
          <a:xfrm>
            <a:off x="4498848" y="4023360"/>
            <a:ext cx="153619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9DB7C"/>
                </a:solidFill>
              </a:rPr>
              <a:t>5–20% per country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236208" y="3986784"/>
            <a:ext cx="2514600" cy="731520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0" y="4023360"/>
            <a:ext cx="2377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8787"/>
                </a:solidFill>
              </a:rPr>
              <a:t>All 7 countries show identical overlap. No geographic difference despite different cultures and time zones.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0F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457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91440"/>
            <a:ext cx="6400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E03131"/>
                </a:solidFill>
              </a:rPr>
              <a:t>PART 1  -  Terms &amp; Reference Values  |  Comments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6858000" y="91440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68E96"/>
                </a:solidFill>
              </a:rPr>
              <a:t>Team Meeting Notes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320040" y="347472"/>
            <a:ext cx="8503920" cy="256032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6" name="Text 4"/>
          <p:cNvSpPr/>
          <p:nvPr/>
        </p:nvSpPr>
        <p:spPr>
          <a:xfrm>
            <a:off x="475488" y="39319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68E96"/>
                </a:solidFill>
              </a:rPr>
              <a:t>TERM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1993392" y="393192"/>
            <a:ext cx="2194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68E96"/>
                </a:solidFill>
              </a:rPr>
              <a:t>NORMAL VALUE / AUFFAELLIG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4315968" y="39319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68E96"/>
                </a:solidFill>
              </a:rPr>
              <a:t>COMMENT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6601968" y="393192"/>
            <a:ext cx="2103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50" kern="0" dirty="0">
                <a:solidFill>
                  <a:srgbClr val="868E96"/>
                </a:solidFill>
              </a:rPr>
              <a:t>ACTION / PRIORITY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320040" y="640080"/>
            <a:ext cx="850392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11" name="Shape 9"/>
          <p:cNvSpPr/>
          <p:nvPr/>
        </p:nvSpPr>
        <p:spPr>
          <a:xfrm>
            <a:off x="320040" y="640080"/>
            <a:ext cx="36576" cy="5029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" y="731520"/>
            <a:ext cx="14447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A"/>
                </a:solidFill>
              </a:rPr>
              <a:t>Listener Overlap (Artists)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93392" y="685800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B7C"/>
                </a:solidFill>
              </a:rPr>
              <a:t>2-12%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993392" y="85953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Daily OK – after 90d: 100%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1993392" y="101498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Grows linearly, never decreases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4315968" y="676656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7" name="Shape 15"/>
          <p:cNvSpPr/>
          <p:nvPr/>
        </p:nvSpPr>
        <p:spPr>
          <a:xfrm>
            <a:off x="6601968" y="676656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18" name="Shape 16"/>
          <p:cNvSpPr/>
          <p:nvPr/>
        </p:nvSpPr>
        <p:spPr>
          <a:xfrm>
            <a:off x="320040" y="1179576"/>
            <a:ext cx="8503920" cy="50292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19" name="Shape 17"/>
          <p:cNvSpPr/>
          <p:nvPr/>
        </p:nvSpPr>
        <p:spPr>
          <a:xfrm>
            <a:off x="320040" y="1179576"/>
            <a:ext cx="36576" cy="5029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20" name="Text 18"/>
          <p:cNvSpPr/>
          <p:nvPr/>
        </p:nvSpPr>
        <p:spPr>
          <a:xfrm>
            <a:off x="438912" y="1271016"/>
            <a:ext cx="14447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A"/>
                </a:solidFill>
              </a:rPr>
              <a:t>Session Overlap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93392" y="122529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B7C"/>
                </a:solidFill>
              </a:rPr>
              <a:t>Spread – peak in evening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993392" y="139903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Groups start/stop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1993392" y="155448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+/- 5–10 min synchronised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315968" y="1216152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5" name="Shape 23"/>
          <p:cNvSpPr/>
          <p:nvPr/>
        </p:nvSpPr>
        <p:spPr>
          <a:xfrm>
            <a:off x="6601968" y="1216152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26" name="Shape 24"/>
          <p:cNvSpPr/>
          <p:nvPr/>
        </p:nvSpPr>
        <p:spPr>
          <a:xfrm>
            <a:off x="320040" y="1719072"/>
            <a:ext cx="850392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27" name="Shape 25"/>
          <p:cNvSpPr/>
          <p:nvPr/>
        </p:nvSpPr>
        <p:spPr>
          <a:xfrm>
            <a:off x="320040" y="1719072"/>
            <a:ext cx="36576" cy="5029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28" name="Text 26"/>
          <p:cNvSpPr/>
          <p:nvPr/>
        </p:nvSpPr>
        <p:spPr>
          <a:xfrm>
            <a:off x="438912" y="1810512"/>
            <a:ext cx="14447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A"/>
                </a:solidFill>
              </a:rPr>
              <a:t>Listen Duration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993392" y="176479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B7C"/>
                </a:solidFill>
              </a:rPr>
              <a:t>30s–8min, wide spread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1993392" y="193852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Always 40–130s, avg 58s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1993392" y="209397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Hard box without outliers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4315968" y="1755648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3" name="Shape 31"/>
          <p:cNvSpPr/>
          <p:nvPr/>
        </p:nvSpPr>
        <p:spPr>
          <a:xfrm>
            <a:off x="6601968" y="1755648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34" name="Shape 32"/>
          <p:cNvSpPr/>
          <p:nvPr/>
        </p:nvSpPr>
        <p:spPr>
          <a:xfrm>
            <a:off x="320040" y="2258568"/>
            <a:ext cx="8503920" cy="50292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35" name="Shape 33"/>
          <p:cNvSpPr/>
          <p:nvPr/>
        </p:nvSpPr>
        <p:spPr>
          <a:xfrm>
            <a:off x="320040" y="2258568"/>
            <a:ext cx="36576" cy="5029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36" name="Text 34"/>
          <p:cNvSpPr/>
          <p:nvPr/>
        </p:nvSpPr>
        <p:spPr>
          <a:xfrm>
            <a:off x="438912" y="2350008"/>
            <a:ext cx="14447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A"/>
                </a:solidFill>
              </a:rPr>
              <a:t>Adoption Speed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2304288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B7C"/>
                </a:solidFill>
              </a:rPr>
              <a:t>S-curve 4–8 weeks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993392" y="247802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All 200 from day 1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1993392" y="263347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No S-curve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315968" y="2295144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41" name="Shape 39"/>
          <p:cNvSpPr/>
          <p:nvPr/>
        </p:nvSpPr>
        <p:spPr>
          <a:xfrm>
            <a:off x="6601968" y="2295144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42" name="Shape 40"/>
          <p:cNvSpPr/>
          <p:nvPr/>
        </p:nvSpPr>
        <p:spPr>
          <a:xfrm>
            <a:off x="320040" y="2798064"/>
            <a:ext cx="850392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43" name="Shape 41"/>
          <p:cNvSpPr/>
          <p:nvPr/>
        </p:nvSpPr>
        <p:spPr>
          <a:xfrm>
            <a:off x="320040" y="2798064"/>
            <a:ext cx="36576" cy="5029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44" name="Text 42"/>
          <p:cNvSpPr/>
          <p:nvPr/>
        </p:nvSpPr>
        <p:spPr>
          <a:xfrm>
            <a:off x="438912" y="2889504"/>
            <a:ext cx="14447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A"/>
                </a:solidFill>
              </a:rPr>
              <a:t>Gini-Koeffizient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993392" y="2843784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B7C"/>
                </a:solidFill>
              </a:rPr>
              <a:t>0.4-0.7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1993392" y="301752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Gini ~0.1–0.2</a:t>
            </a:r>
            <a:endParaRPr lang="en-US" sz="800" dirty="0"/>
          </a:p>
        </p:txBody>
      </p:sp>
      <p:sp>
        <p:nvSpPr>
          <p:cNvPr id="47" name="Text 45"/>
          <p:cNvSpPr/>
          <p:nvPr/>
        </p:nvSpPr>
        <p:spPr>
          <a:xfrm>
            <a:off x="1993392" y="317296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Likes ≠ play frequency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315968" y="2834640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49" name="Shape 47"/>
          <p:cNvSpPr/>
          <p:nvPr/>
        </p:nvSpPr>
        <p:spPr>
          <a:xfrm>
            <a:off x="6601968" y="2834640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50" name="Shape 48"/>
          <p:cNvSpPr/>
          <p:nvPr/>
        </p:nvSpPr>
        <p:spPr>
          <a:xfrm>
            <a:off x="320040" y="3337560"/>
            <a:ext cx="8503920" cy="50292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51" name="Shape 49"/>
          <p:cNvSpPr/>
          <p:nvPr/>
        </p:nvSpPr>
        <p:spPr>
          <a:xfrm>
            <a:off x="320040" y="3337560"/>
            <a:ext cx="36576" cy="5029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52" name="Text 50"/>
          <p:cNvSpPr/>
          <p:nvPr/>
        </p:nvSpPr>
        <p:spPr>
          <a:xfrm>
            <a:off x="438912" y="3429000"/>
            <a:ext cx="14447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A"/>
                </a:solidFill>
              </a:rPr>
              <a:t>Cluster Formation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1993392" y="3383280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B7C"/>
                </a:solidFill>
              </a:rPr>
              <a:t>Groups under 5%</a:t>
            </a:r>
            <a:endParaRPr lang="en-US" sz="850" dirty="0"/>
          </a:p>
        </p:txBody>
      </p:sp>
      <p:sp>
        <p:nvSpPr>
          <p:cNvPr id="54" name="Text 52"/>
          <p:cNvSpPr/>
          <p:nvPr/>
        </p:nvSpPr>
        <p:spPr>
          <a:xfrm>
            <a:off x="1993392" y="355701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Daily random 67 per task</a:t>
            </a:r>
            <a:endParaRPr lang="en-US" sz="800" dirty="0"/>
          </a:p>
        </p:txBody>
      </p:sp>
      <p:sp>
        <p:nvSpPr>
          <p:cNvPr id="55" name="Text 53"/>
          <p:cNvSpPr/>
          <p:nvPr/>
        </p:nvSpPr>
        <p:spPr>
          <a:xfrm>
            <a:off x="1993392" y="3712464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Synchronised +/- 5–10 min</a:t>
            </a:r>
            <a:endParaRPr lang="en-US" sz="800" dirty="0"/>
          </a:p>
        </p:txBody>
      </p:sp>
      <p:sp>
        <p:nvSpPr>
          <p:cNvPr id="56" name="Shape 54"/>
          <p:cNvSpPr/>
          <p:nvPr/>
        </p:nvSpPr>
        <p:spPr>
          <a:xfrm>
            <a:off x="4315968" y="3374136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57" name="Shape 55"/>
          <p:cNvSpPr/>
          <p:nvPr/>
        </p:nvSpPr>
        <p:spPr>
          <a:xfrm>
            <a:off x="6601968" y="3374136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58" name="Shape 56"/>
          <p:cNvSpPr/>
          <p:nvPr/>
        </p:nvSpPr>
        <p:spPr>
          <a:xfrm>
            <a:off x="320040" y="3877056"/>
            <a:ext cx="8503920" cy="502920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59" name="Shape 57"/>
          <p:cNvSpPr/>
          <p:nvPr/>
        </p:nvSpPr>
        <p:spPr>
          <a:xfrm>
            <a:off x="320040" y="3877056"/>
            <a:ext cx="36576" cy="5029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60" name="Text 58"/>
          <p:cNvSpPr/>
          <p:nvPr/>
        </p:nvSpPr>
        <p:spPr>
          <a:xfrm>
            <a:off x="438912" y="3968496"/>
            <a:ext cx="14447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A"/>
                </a:solidFill>
              </a:rPr>
              <a:t>Overlap Growth Curve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1993392" y="3922776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B7C"/>
                </a:solidFill>
              </a:rPr>
              <a:t>Irregular – rises and falls</a:t>
            </a:r>
            <a:endParaRPr lang="en-US" sz="850" dirty="0"/>
          </a:p>
        </p:txBody>
      </p:sp>
      <p:sp>
        <p:nvSpPr>
          <p:cNvPr id="62" name="Text 60"/>
          <p:cNvSpPr/>
          <p:nvPr/>
        </p:nvSpPr>
        <p:spPr>
          <a:xfrm>
            <a:off x="1993392" y="4096512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Daily +0.5–1%</a:t>
            </a:r>
            <a:endParaRPr lang="en-US" sz="800" dirty="0"/>
          </a:p>
        </p:txBody>
      </p:sp>
      <p:sp>
        <p:nvSpPr>
          <p:cNvPr id="63" name="Text 61"/>
          <p:cNvSpPr/>
          <p:nvPr/>
        </p:nvSpPr>
        <p:spPr>
          <a:xfrm>
            <a:off x="1993392" y="4251960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Perfect straight line after 90d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4315968" y="3913632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65" name="Shape 63"/>
          <p:cNvSpPr/>
          <p:nvPr/>
        </p:nvSpPr>
        <p:spPr>
          <a:xfrm>
            <a:off x="6601968" y="3913632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66" name="Shape 64"/>
          <p:cNvSpPr/>
          <p:nvPr/>
        </p:nvSpPr>
        <p:spPr>
          <a:xfrm>
            <a:off x="320040" y="4416552"/>
            <a:ext cx="8503920" cy="502920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67" name="Shape 65"/>
          <p:cNvSpPr/>
          <p:nvPr/>
        </p:nvSpPr>
        <p:spPr>
          <a:xfrm>
            <a:off x="320040" y="4416552"/>
            <a:ext cx="36576" cy="502920"/>
          </a:xfrm>
          <a:prstGeom prst="rect">
            <a:avLst/>
          </a:prstGeom>
          <a:solidFill>
            <a:srgbClr val="E03131"/>
          </a:solidFill>
          <a:ln/>
        </p:spPr>
      </p:sp>
      <p:sp>
        <p:nvSpPr>
          <p:cNvPr id="68" name="Text 66"/>
          <p:cNvSpPr/>
          <p:nvPr/>
        </p:nvSpPr>
        <p:spPr>
          <a:xfrm>
            <a:off x="438912" y="4507992"/>
            <a:ext cx="14447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8F9FA"/>
                </a:solidFill>
              </a:rPr>
              <a:t>Geographic Overlap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1993392" y="4462272"/>
            <a:ext cx="2176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9DB7C"/>
                </a:solidFill>
              </a:rPr>
              <a:t>5–20% per country</a:t>
            </a:r>
            <a:endParaRPr lang="en-US" sz="850" dirty="0"/>
          </a:p>
        </p:txBody>
      </p:sp>
      <p:sp>
        <p:nvSpPr>
          <p:cNvPr id="70" name="Text 68"/>
          <p:cNvSpPr/>
          <p:nvPr/>
        </p:nvSpPr>
        <p:spPr>
          <a:xfrm>
            <a:off x="1993392" y="4636008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All 7 countries identical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1993392" y="4791456"/>
            <a:ext cx="2176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8787"/>
                </a:solidFill>
              </a:rPr>
              <a:t>No geographic difference</a:t>
            </a:r>
            <a:endParaRPr lang="en-US" sz="800" dirty="0"/>
          </a:p>
        </p:txBody>
      </p:sp>
      <p:sp>
        <p:nvSpPr>
          <p:cNvPr id="72" name="Shape 70"/>
          <p:cNvSpPr/>
          <p:nvPr/>
        </p:nvSpPr>
        <p:spPr>
          <a:xfrm>
            <a:off x="4315968" y="4453128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73" name="Shape 71"/>
          <p:cNvSpPr/>
          <p:nvPr/>
        </p:nvSpPr>
        <p:spPr>
          <a:xfrm>
            <a:off x="6601968" y="4453128"/>
            <a:ext cx="2176272" cy="429768"/>
          </a:xfrm>
          <a:prstGeom prst="rect">
            <a:avLst/>
          </a:prstGeom>
          <a:solidFill>
            <a:srgbClr val="0F0F0F"/>
          </a:solidFill>
          <a:ln/>
        </p:spPr>
      </p:sp>
      <p:sp>
        <p:nvSpPr>
          <p:cNvPr id="74" name="Shape 72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242424"/>
          </a:solidFill>
          <a:ln/>
        </p:spPr>
      </p:sp>
      <p:sp>
        <p:nvSpPr>
          <p:cNvPr id="75" name="Text 73"/>
          <p:cNvSpPr/>
          <p:nvPr/>
        </p:nvSpPr>
        <p:spPr>
          <a:xfrm>
            <a:off x="320040" y="5047488"/>
            <a:ext cx="8503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68E96"/>
                </a:solidFill>
              </a:rPr>
              <a:t>Fraud Streaming Detection  |  Team Meeting  |  Comment Sheet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2026-04-19T13:44:21Z</dcterms:created>
  <dcterms:modified xsi:type="dcterms:W3CDTF">2026-04-19T13:44:21Z</dcterms:modified>
</cp:coreProperties>
</file>